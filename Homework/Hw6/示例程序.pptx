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22"/>
  </p:notesMasterIdLst>
  <p:handoutMasterIdLst>
    <p:handoutMasterId r:id="rId23"/>
  </p:handoutMasterIdLst>
  <p:sldIdLst>
    <p:sldId id="660" r:id="rId2"/>
    <p:sldId id="661" r:id="rId3"/>
    <p:sldId id="662" r:id="rId4"/>
    <p:sldId id="663" r:id="rId5"/>
    <p:sldId id="664" r:id="rId6"/>
    <p:sldId id="665" r:id="rId7"/>
    <p:sldId id="666" r:id="rId8"/>
    <p:sldId id="667" r:id="rId9"/>
    <p:sldId id="668" r:id="rId10"/>
    <p:sldId id="669" r:id="rId11"/>
    <p:sldId id="670" r:id="rId12"/>
    <p:sldId id="671" r:id="rId13"/>
    <p:sldId id="672" r:id="rId14"/>
    <p:sldId id="673" r:id="rId15"/>
    <p:sldId id="674" r:id="rId16"/>
    <p:sldId id="675" r:id="rId17"/>
    <p:sldId id="676" r:id="rId18"/>
    <p:sldId id="677" r:id="rId19"/>
    <p:sldId id="678" r:id="rId20"/>
    <p:sldId id="679" r:id="rId21"/>
  </p:sldIdLst>
  <p:sldSz cx="9144000" cy="6858000" type="screen4x3"/>
  <p:notesSz cx="6834188" cy="997902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43">
          <p15:clr>
            <a:srgbClr val="A4A3A4"/>
          </p15:clr>
        </p15:guide>
        <p15:guide id="2" pos="215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FFFFF"/>
    <a:srgbClr val="66FFFF"/>
    <a:srgbClr val="009900"/>
    <a:srgbClr val="FF99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3" autoAdjust="0"/>
    <p:restoredTop sz="71838" autoAdjust="0"/>
  </p:normalViewPr>
  <p:slideViewPr>
    <p:cSldViewPr>
      <p:cViewPr varScale="1">
        <p:scale>
          <a:sx n="92" d="100"/>
          <a:sy n="92" d="100"/>
        </p:scale>
        <p:origin x="2664" y="17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43" d="100"/>
          <a:sy n="43" d="100"/>
        </p:scale>
        <p:origin x="-1416" y="-84"/>
      </p:cViewPr>
      <p:guideLst>
        <p:guide orient="horz" pos="3143"/>
        <p:guide pos="215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22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3500" y="0"/>
            <a:ext cx="2960688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80550"/>
            <a:ext cx="29622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3500" y="9480550"/>
            <a:ext cx="2960688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4AAE6125-5F50-4DDD-BB1D-5CA63C2E236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4638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22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3500" y="0"/>
            <a:ext cx="2960688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22338" y="747713"/>
            <a:ext cx="4991100" cy="3743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740275"/>
            <a:ext cx="5011738" cy="449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80550"/>
            <a:ext cx="29622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3500" y="9480550"/>
            <a:ext cx="2960688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172206B-2AE6-499F-B7D8-324FB249A86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4577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圆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02DD017-FB2E-47D9-8292-63894899072C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2A8C4-B963-4844-9310-AC9518F7E63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圆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A1E2086-FBC1-4ACA-B246-0572B31094F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682A4-7D3D-4C26-B08B-981DE7D9F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19036-A3E5-4CD1-B6B4-0E74BA3CF58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6D9E-C421-4128-B3B7-4D4DBAF035D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FC71-E2ED-472C-ADB5-A7A007F5CC0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圆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D869-19CE-4A93-92D7-60C20F6DDAD3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15FD646-48A1-4A27-B7DE-53696E433AEF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664C-0126-440B-A124-300D7968787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46AC3-60D9-4941-94FB-B9BD531FEF0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D703F81-D164-4123-9588-598A0957246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0671533"/>
      </p:ext>
    </p:extLst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533C75E-4091-41DD-B7E2-CE9C9934E80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7815088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圆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 dirty="0"/>
              <a:t>单击此处编辑母版文本样式</a:t>
            </a:r>
          </a:p>
          <a:p>
            <a:pPr lvl="1" eaLnBrk="1" latinLnBrk="0" hangingPunct="1"/>
            <a:r>
              <a:rPr kumimoji="0" lang="zh-CN" altLang="en-US" dirty="0"/>
              <a:t>第二级</a:t>
            </a:r>
          </a:p>
          <a:p>
            <a:pPr lvl="2" eaLnBrk="1" latinLnBrk="0" hangingPunct="1"/>
            <a:r>
              <a:rPr kumimoji="0" lang="zh-CN" altLang="en-US" dirty="0"/>
              <a:t>第三级</a:t>
            </a:r>
          </a:p>
          <a:p>
            <a:pPr lvl="3" eaLnBrk="1" latinLnBrk="0" hangingPunct="1"/>
            <a:r>
              <a:rPr kumimoji="0" lang="zh-CN" altLang="en-US" dirty="0"/>
              <a:t>第四级</a:t>
            </a:r>
          </a:p>
          <a:p>
            <a:pPr lvl="4" eaLnBrk="1" latinLnBrk="0" hangingPunct="1"/>
            <a:r>
              <a:rPr kumimoji="0" lang="zh-CN" altLang="en-US" dirty="0"/>
              <a:t>第五级</a:t>
            </a:r>
            <a:endParaRPr kumimoji="0" 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3430C793-F053-4FB1-9498-AD488B5BBBD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</p:sldLayoutIdLst>
  <p:transition>
    <p:random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32BBC-72D8-4534-9A57-B74D70454EC5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15888"/>
            <a:ext cx="7772400" cy="692150"/>
          </a:xfrm>
        </p:spPr>
        <p:txBody>
          <a:bodyPr>
            <a:normAutofit fontScale="90000"/>
          </a:bodyPr>
          <a:lstStyle/>
          <a:p>
            <a:r>
              <a:rPr lang="zh-CN" altLang="en-US" sz="4000"/>
              <a:t>示例程序：改进的影片跟踪管理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415213" cy="4114800"/>
          </a:xfrm>
        </p:spPr>
        <p:txBody>
          <a:bodyPr/>
          <a:lstStyle/>
          <a:p>
            <a:pPr algn="just"/>
            <a:endParaRPr lang="en-US" altLang="zh-CN" sz="2800"/>
          </a:p>
          <a:p>
            <a:pPr algn="just"/>
            <a:endParaRPr lang="en-US" altLang="zh-CN" sz="2800"/>
          </a:p>
          <a:p>
            <a:pPr algn="just"/>
            <a:endParaRPr lang="en-US" altLang="zh-CN" sz="2800"/>
          </a:p>
          <a:p>
            <a:endParaRPr lang="en-US" altLang="zh-CN" sz="2800"/>
          </a:p>
        </p:txBody>
      </p:sp>
      <p:sp>
        <p:nvSpPr>
          <p:cNvPr id="153604" name="Rectangle 4"/>
          <p:cNvSpPr>
            <a:spLocks noChangeArrowheads="1"/>
          </p:cNvSpPr>
          <p:nvPr/>
        </p:nvSpPr>
        <p:spPr bwMode="auto">
          <a:xfrm>
            <a:off x="827088" y="1052513"/>
            <a:ext cx="7415212" cy="432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r>
              <a:rPr lang="zh-CN" altLang="en-US" sz="2800"/>
              <a:t>将影片跟踪管理的例子作如下修改：</a:t>
            </a:r>
          </a:p>
          <a:p>
            <a:pPr marL="742950" lvl="1" indent="-285750" algn="just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</a:pPr>
            <a:r>
              <a:rPr lang="zh-CN" altLang="en-US"/>
              <a:t>提供一个多态的成员函数</a:t>
            </a:r>
            <a:r>
              <a:rPr lang="en-US" altLang="zh-CN" b="1"/>
              <a:t>input</a:t>
            </a:r>
            <a:r>
              <a:rPr lang="zh-CN" altLang="en-US"/>
              <a:t>，可以从某个输入文件中读入有关</a:t>
            </a:r>
            <a:r>
              <a:rPr lang="en-US" altLang="zh-CN" b="1"/>
              <a:t>Film</a:t>
            </a:r>
            <a:r>
              <a:rPr lang="en-US" altLang="zh-CN"/>
              <a:t>s</a:t>
            </a:r>
            <a:r>
              <a:rPr lang="zh-CN" altLang="en-US"/>
              <a:t>、</a:t>
            </a:r>
            <a:r>
              <a:rPr lang="en-US" altLang="zh-CN" b="1"/>
              <a:t>DirectorCut</a:t>
            </a:r>
            <a:r>
              <a:rPr lang="en-US" altLang="zh-CN"/>
              <a:t>s</a:t>
            </a:r>
            <a:r>
              <a:rPr lang="zh-CN" altLang="en-US"/>
              <a:t>和</a:t>
            </a:r>
            <a:r>
              <a:rPr lang="en-US" altLang="zh-CN" b="1"/>
              <a:t>ForeignFilm</a:t>
            </a:r>
            <a:r>
              <a:rPr lang="en-US" altLang="zh-CN"/>
              <a:t>s</a:t>
            </a:r>
            <a:r>
              <a:rPr lang="zh-CN" altLang="en-US"/>
              <a:t>的记录，输入文件中的每条记录都可映射到某个</a:t>
            </a:r>
            <a:r>
              <a:rPr lang="en-US" altLang="zh-CN" b="1"/>
              <a:t>Film</a:t>
            </a:r>
            <a:r>
              <a:rPr lang="zh-CN" altLang="en-US"/>
              <a:t>类层次中的对象，假设输入文件的格式是正确的。</a:t>
            </a:r>
          </a:p>
          <a:p>
            <a:pPr marL="742950" lvl="1" indent="-285750" algn="just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</a:pPr>
            <a:r>
              <a:rPr lang="zh-CN" altLang="en-US"/>
              <a:t>依据输入文件中的记录动态地创建</a:t>
            </a:r>
            <a:r>
              <a:rPr lang="en-US" altLang="zh-CN" b="1"/>
              <a:t>Film</a:t>
            </a:r>
            <a:r>
              <a:rPr lang="zh-CN" altLang="en-US"/>
              <a:t>类层次对象。</a:t>
            </a:r>
          </a:p>
          <a:p>
            <a:pPr marL="742950" lvl="1" indent="-285750" algn="just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</a:pPr>
            <a:r>
              <a:rPr lang="zh-CN" altLang="en-US"/>
              <a:t>将</a:t>
            </a:r>
            <a:r>
              <a:rPr lang="en-US" altLang="zh-CN" b="1"/>
              <a:t>Film</a:t>
            </a:r>
            <a:r>
              <a:rPr lang="zh-CN" altLang="en-US"/>
              <a:t>类层次中的</a:t>
            </a:r>
            <a:r>
              <a:rPr lang="en-US" altLang="zh-CN" b="1"/>
              <a:t>input</a:t>
            </a:r>
            <a:r>
              <a:rPr lang="zh-CN" altLang="en-US"/>
              <a:t>函数设计为虚函数，使其具有多态性。动态创建的对象通过</a:t>
            </a:r>
            <a:r>
              <a:rPr lang="en-US" altLang="zh-CN" b="1"/>
              <a:t>input</a:t>
            </a:r>
            <a:r>
              <a:rPr lang="zh-CN" altLang="en-US"/>
              <a:t>函数可从输入流中正确地读入数据。</a:t>
            </a:r>
          </a:p>
          <a:p>
            <a:pPr marL="742950" lvl="1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</a:pPr>
            <a:r>
              <a:rPr lang="zh-CN" altLang="en-US"/>
              <a:t>将</a:t>
            </a:r>
            <a:r>
              <a:rPr lang="en-US" altLang="zh-CN" b="1"/>
              <a:t>Film</a:t>
            </a:r>
            <a:r>
              <a:rPr lang="zh-CN" altLang="en-US"/>
              <a:t>类层次中的</a:t>
            </a:r>
            <a:r>
              <a:rPr lang="en-US" altLang="zh-CN" b="1"/>
              <a:t>output</a:t>
            </a:r>
            <a:r>
              <a:rPr lang="zh-CN" altLang="en-US"/>
              <a:t>函数设计为虚函数，使其具有多态性。动态创建的对象通过</a:t>
            </a:r>
            <a:r>
              <a:rPr lang="en-US" altLang="zh-CN" b="1"/>
              <a:t>output</a:t>
            </a:r>
            <a:r>
              <a:rPr lang="zh-CN" altLang="en-US"/>
              <a:t>函数可将信息正确地输出到标准输出流。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sz="280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sz="280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sz="2800"/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sz="280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</p:txBody>
      </p:sp>
    </p:spTree>
    <p:extLst>
      <p:ext uri="{BB962C8B-B14F-4D97-AF65-F5344CB8AC3E}">
        <p14:creationId xmlns:p14="http://schemas.microsoft.com/office/powerpoint/2010/main" val="2809352841"/>
      </p:ext>
    </p:extLst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2F7E0-9334-4EF6-B57D-08426BCBE2F4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154634" name="Rectangle 10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r>
              <a:rPr lang="zh-CN" altLang="en-US"/>
              <a:t>输入文件的格式如下：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415213" cy="4114800"/>
          </a:xfrm>
        </p:spPr>
        <p:txBody>
          <a:bodyPr/>
          <a:lstStyle/>
          <a:p>
            <a:pPr algn="just"/>
            <a:endParaRPr lang="en-US" altLang="zh-CN" sz="2800"/>
          </a:p>
          <a:p>
            <a:pPr algn="just"/>
            <a:endParaRPr lang="en-US" altLang="zh-CN" sz="2800"/>
          </a:p>
          <a:p>
            <a:pPr algn="just"/>
            <a:endParaRPr lang="en-US" altLang="zh-CN" sz="2800"/>
          </a:p>
          <a:p>
            <a:endParaRPr lang="en-US" altLang="zh-CN" sz="2800"/>
          </a:p>
        </p:txBody>
      </p:sp>
      <p:sp>
        <p:nvSpPr>
          <p:cNvPr id="154628" name="Rectangle 4"/>
          <p:cNvSpPr>
            <a:spLocks noChangeArrowheads="1"/>
          </p:cNvSpPr>
          <p:nvPr/>
        </p:nvSpPr>
        <p:spPr bwMode="auto">
          <a:xfrm>
            <a:off x="901700" y="2197100"/>
            <a:ext cx="7415213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</p:txBody>
      </p:sp>
      <p:pic>
        <p:nvPicPr>
          <p:cNvPr id="154633" name="Picture 9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00338" y="1628775"/>
            <a:ext cx="4313237" cy="5084763"/>
          </a:xfr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5430656"/>
      </p:ext>
    </p:extLst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E9016-5E6A-4CF1-BF62-50D87DE22A3E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测试程序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415213" cy="4114800"/>
          </a:xfrm>
        </p:spPr>
        <p:txBody>
          <a:bodyPr/>
          <a:lstStyle/>
          <a:p>
            <a:pPr algn="just"/>
            <a:endParaRPr lang="en-US" altLang="zh-CN" sz="2800"/>
          </a:p>
          <a:p>
            <a:pPr algn="just"/>
            <a:endParaRPr lang="en-US" altLang="zh-CN" sz="2800"/>
          </a:p>
          <a:p>
            <a:pPr algn="just"/>
            <a:endParaRPr lang="en-US" altLang="zh-CN" sz="2800"/>
          </a:p>
          <a:p>
            <a:endParaRPr lang="en-US" altLang="zh-CN" sz="2800"/>
          </a:p>
        </p:txBody>
      </p:sp>
      <p:pic>
        <p:nvPicPr>
          <p:cNvPr id="155652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628775"/>
            <a:ext cx="9144000" cy="4751388"/>
          </a:xfr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5654" name="Line 6"/>
          <p:cNvSpPr>
            <a:spLocks noChangeShapeType="1"/>
          </p:cNvSpPr>
          <p:nvPr/>
        </p:nvSpPr>
        <p:spPr bwMode="auto">
          <a:xfrm>
            <a:off x="684213" y="5589588"/>
            <a:ext cx="6335712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136283"/>
      </p:ext>
    </p:extLst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06F96-D6D0-43E7-B867-825D68AAE857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r>
              <a:rPr lang="zh-CN" altLang="en-US"/>
              <a:t>测试程序输出</a:t>
            </a:r>
          </a:p>
        </p:txBody>
      </p:sp>
      <p:pic>
        <p:nvPicPr>
          <p:cNvPr id="156676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76375" y="1454150"/>
            <a:ext cx="6191250" cy="4992688"/>
          </a:xfr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9050398"/>
      </p:ext>
    </p:extLst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169C-976B-4BC2-B7E4-A9AC0A87B408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5872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412875"/>
            <a:ext cx="7415212" cy="4114800"/>
          </a:xfrm>
        </p:spPr>
        <p:txBody>
          <a:bodyPr/>
          <a:lstStyle/>
          <a:p>
            <a:r>
              <a:rPr lang="zh-CN" altLang="en-US" sz="2800"/>
              <a:t>原程序回顾：</a:t>
            </a:r>
          </a:p>
          <a:p>
            <a:pPr lvl="1"/>
            <a:r>
              <a:rPr lang="en-US" altLang="zh-CN" sz="2400" b="1"/>
              <a:t>Film</a:t>
            </a:r>
            <a:r>
              <a:rPr lang="zh-CN" altLang="en-US" sz="2400"/>
              <a:t>为基类</a:t>
            </a:r>
          </a:p>
          <a:p>
            <a:pPr lvl="1"/>
            <a:r>
              <a:rPr lang="en-US" altLang="zh-CN" sz="2400" b="1"/>
              <a:t>ForeignFilm</a:t>
            </a:r>
            <a:r>
              <a:rPr lang="zh-CN" altLang="en-US" sz="2400"/>
              <a:t>和</a:t>
            </a:r>
            <a:r>
              <a:rPr lang="en-US" altLang="zh-CN" sz="2400" b="1"/>
              <a:t>DirectorCut</a:t>
            </a:r>
            <a:r>
              <a:rPr lang="zh-CN" altLang="en-US" sz="2400"/>
              <a:t>为派生类</a:t>
            </a:r>
          </a:p>
          <a:p>
            <a:pPr algn="just"/>
            <a:endParaRPr lang="zh-CN" altLang="en-US" sz="2800"/>
          </a:p>
          <a:p>
            <a:pPr algn="just"/>
            <a:endParaRPr lang="zh-CN" altLang="en-US" sz="2800"/>
          </a:p>
          <a:p>
            <a:endParaRPr lang="en-US" altLang="zh-CN" sz="2800"/>
          </a:p>
        </p:txBody>
      </p:sp>
      <p:sp>
        <p:nvSpPr>
          <p:cNvPr id="158723" name="Rectangle 3"/>
          <p:cNvSpPr>
            <a:spLocks noChangeArrowheads="1"/>
          </p:cNvSpPr>
          <p:nvPr/>
        </p:nvSpPr>
        <p:spPr bwMode="auto">
          <a:xfrm>
            <a:off x="611188" y="404813"/>
            <a:ext cx="77724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zh-CN" altLang="en-US" sz="4000">
                <a:solidFill>
                  <a:schemeClr val="tx2"/>
                </a:solidFill>
              </a:rPr>
              <a:t>示例程序：改进的影片跟踪管理</a:t>
            </a:r>
          </a:p>
        </p:txBody>
      </p:sp>
    </p:spTree>
    <p:extLst>
      <p:ext uri="{BB962C8B-B14F-4D97-AF65-F5344CB8AC3E}">
        <p14:creationId xmlns:p14="http://schemas.microsoft.com/office/powerpoint/2010/main" val="2555792058"/>
      </p:ext>
    </p:extLst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10588-CEBE-4477-89F1-72F6DB7A11DB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159748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8" y="0"/>
            <a:ext cx="7489825" cy="6840538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1680952513"/>
      </p:ext>
    </p:extLst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A1190-D2F4-47BE-835D-839A248C96ED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1607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476250"/>
            <a:ext cx="8569325" cy="583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8770986"/>
      </p:ext>
    </p:extLst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7F7A-E8CC-458F-8BB0-402634F577FC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1617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549275"/>
            <a:ext cx="8350250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1401110"/>
      </p:ext>
    </p:extLst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C2293-97CC-459B-BE55-1A697A6853AB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16691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196975"/>
            <a:ext cx="3165475" cy="41148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zh-CN" altLang="en-US" sz="2400"/>
              <a:t>加了默认构造函数，使得在创建对象时确保所有的数据成员都被初始化。</a:t>
            </a:r>
          </a:p>
          <a:p>
            <a:pPr algn="just">
              <a:lnSpc>
                <a:spcPct val="90000"/>
              </a:lnSpc>
            </a:pPr>
            <a:r>
              <a:rPr lang="zh-CN" altLang="en-US" sz="2400"/>
              <a:t>增加了虚成员函数</a:t>
            </a:r>
            <a:r>
              <a:rPr lang="en-US" altLang="zh-CN" sz="2400"/>
              <a:t>input</a:t>
            </a:r>
          </a:p>
          <a:p>
            <a:pPr algn="just">
              <a:lnSpc>
                <a:spcPct val="90000"/>
              </a:lnSpc>
            </a:pPr>
            <a:r>
              <a:rPr lang="zh-CN" altLang="en-US" sz="2400"/>
              <a:t>增加了虚成员函数</a:t>
            </a:r>
            <a:r>
              <a:rPr lang="en-US" altLang="zh-CN" sz="2400"/>
              <a:t>output</a:t>
            </a:r>
          </a:p>
          <a:p>
            <a:pPr algn="just">
              <a:lnSpc>
                <a:spcPct val="90000"/>
              </a:lnSpc>
            </a:pPr>
            <a:r>
              <a:rPr lang="zh-CN" altLang="en-US" sz="2400"/>
              <a:t>增加了静态成员函数</a:t>
            </a:r>
            <a:r>
              <a:rPr lang="en-US" altLang="zh-CN" sz="2400"/>
              <a:t>read-input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endParaRPr lang="en-US" altLang="zh-CN" sz="2400"/>
          </a:p>
          <a:p>
            <a:pPr algn="just">
              <a:lnSpc>
                <a:spcPct val="90000"/>
              </a:lnSpc>
            </a:pPr>
            <a:endParaRPr lang="en-US" altLang="zh-CN" sz="2400"/>
          </a:p>
          <a:p>
            <a:pPr>
              <a:lnSpc>
                <a:spcPct val="90000"/>
              </a:lnSpc>
            </a:pPr>
            <a:endParaRPr lang="en-US" altLang="zh-CN" sz="2400"/>
          </a:p>
        </p:txBody>
      </p:sp>
      <p:sp>
        <p:nvSpPr>
          <p:cNvPr id="166915" name="Rectangle 3"/>
          <p:cNvSpPr>
            <a:spLocks noChangeArrowheads="1"/>
          </p:cNvSpPr>
          <p:nvPr/>
        </p:nvSpPr>
        <p:spPr bwMode="auto">
          <a:xfrm>
            <a:off x="395536" y="404813"/>
            <a:ext cx="77724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altLang="zh-CN" sz="4000" dirty="0">
                <a:solidFill>
                  <a:schemeClr val="tx2"/>
                </a:solidFill>
              </a:rPr>
              <a:t>FILM</a:t>
            </a:r>
            <a:r>
              <a:rPr lang="zh-CN" altLang="en-US" sz="4000" dirty="0">
                <a:solidFill>
                  <a:schemeClr val="tx2"/>
                </a:solidFill>
              </a:rPr>
              <a:t>的改进</a:t>
            </a:r>
          </a:p>
        </p:txBody>
      </p:sp>
      <p:grpSp>
        <p:nvGrpSpPr>
          <p:cNvPr id="166916" name="Group 4"/>
          <p:cNvGrpSpPr>
            <a:grpSpLocks/>
          </p:cNvGrpSpPr>
          <p:nvPr/>
        </p:nvGrpSpPr>
        <p:grpSpPr bwMode="auto">
          <a:xfrm>
            <a:off x="3528442" y="116633"/>
            <a:ext cx="5580062" cy="6741368"/>
            <a:chOff x="2925" y="618"/>
            <a:chExt cx="2404" cy="3133"/>
          </a:xfrm>
        </p:grpSpPr>
        <p:pic>
          <p:nvPicPr>
            <p:cNvPr id="166917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5" y="618"/>
              <a:ext cx="2404" cy="20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66918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2680"/>
              <a:ext cx="2400" cy="10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76137072"/>
      </p:ext>
    </p:extLst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8ADB6-6EA7-4E55-8A55-4E82A99F31AB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16794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16794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2613" y="0"/>
            <a:ext cx="7085012" cy="6858000"/>
          </a:xfr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5133255"/>
      </p:ext>
    </p:extLst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3D239-B004-4A92-B8AC-5520B4745E20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17305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052513"/>
            <a:ext cx="7558087" cy="2384425"/>
          </a:xfrm>
        </p:spPr>
        <p:txBody>
          <a:bodyPr/>
          <a:lstStyle/>
          <a:p>
            <a:pPr algn="just"/>
            <a:r>
              <a:rPr lang="zh-CN" altLang="en-US" sz="2800"/>
              <a:t>加了默认构造函数，使得在创建对象时确保所有的数据成员都被初始化。</a:t>
            </a:r>
          </a:p>
          <a:p>
            <a:pPr algn="just"/>
            <a:r>
              <a:rPr lang="zh-CN" altLang="en-US" sz="2800"/>
              <a:t>增加了虚成员函数</a:t>
            </a:r>
            <a:r>
              <a:rPr lang="en-US" altLang="zh-CN" sz="2800"/>
              <a:t>input</a:t>
            </a:r>
          </a:p>
          <a:p>
            <a:pPr algn="just"/>
            <a:r>
              <a:rPr lang="zh-CN" altLang="en-US" sz="2800"/>
              <a:t>增加了虚成员函数</a:t>
            </a:r>
            <a:r>
              <a:rPr lang="en-US" altLang="zh-CN" sz="2800"/>
              <a:t>output</a:t>
            </a:r>
          </a:p>
          <a:p>
            <a:pPr algn="just">
              <a:buFont typeface="Monotype Sorts" pitchFamily="2" charset="2"/>
              <a:buNone/>
            </a:pPr>
            <a:endParaRPr lang="en-US" altLang="zh-CN" sz="2800"/>
          </a:p>
          <a:p>
            <a:endParaRPr lang="en-US" altLang="zh-CN" sz="2800"/>
          </a:p>
        </p:txBody>
      </p:sp>
      <p:sp>
        <p:nvSpPr>
          <p:cNvPr id="173059" name="Rectangle 3"/>
          <p:cNvSpPr>
            <a:spLocks noChangeArrowheads="1"/>
          </p:cNvSpPr>
          <p:nvPr/>
        </p:nvSpPr>
        <p:spPr bwMode="auto">
          <a:xfrm>
            <a:off x="0" y="188913"/>
            <a:ext cx="77724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zh-CN" altLang="en-US" sz="4000">
                <a:solidFill>
                  <a:schemeClr val="tx2"/>
                </a:solidFill>
              </a:rPr>
              <a:t>对</a:t>
            </a:r>
            <a:r>
              <a:rPr lang="en-US" altLang="zh-CN" sz="4400" b="1">
                <a:solidFill>
                  <a:schemeClr val="tx2"/>
                </a:solidFill>
              </a:rPr>
              <a:t>DirectorCut</a:t>
            </a:r>
            <a:r>
              <a:rPr lang="zh-CN" altLang="en-US" sz="4000">
                <a:solidFill>
                  <a:schemeClr val="tx2"/>
                </a:solidFill>
              </a:rPr>
              <a:t>的改进</a:t>
            </a:r>
          </a:p>
        </p:txBody>
      </p:sp>
      <p:pic>
        <p:nvPicPr>
          <p:cNvPr id="173062" name="Picture 6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7088" y="3213100"/>
            <a:ext cx="7273925" cy="3597275"/>
          </a:xfr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7973142"/>
      </p:ext>
    </p:extLst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4AEFB-8C6B-4115-9B33-2B383C862C39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17408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17408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476250"/>
            <a:ext cx="7993063" cy="5616575"/>
          </a:xfr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7976158"/>
      </p:ext>
    </p:extLst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BA9E7-028C-4E24-A820-664C6F65FCD6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052513"/>
            <a:ext cx="7558087" cy="2384425"/>
          </a:xfrm>
        </p:spPr>
        <p:txBody>
          <a:bodyPr/>
          <a:lstStyle/>
          <a:p>
            <a:pPr algn="just"/>
            <a:r>
              <a:rPr lang="zh-CN" altLang="en-US" sz="2800"/>
              <a:t>加了默认构造函数，使得在创建对象时确保所有的数据成员都被初始化。</a:t>
            </a:r>
          </a:p>
          <a:p>
            <a:pPr algn="just"/>
            <a:r>
              <a:rPr lang="zh-CN" altLang="en-US" sz="2800"/>
              <a:t>增加了虚成员函数</a:t>
            </a:r>
            <a:r>
              <a:rPr lang="en-US" altLang="zh-CN" sz="2800"/>
              <a:t>input</a:t>
            </a:r>
          </a:p>
          <a:p>
            <a:pPr algn="just"/>
            <a:r>
              <a:rPr lang="zh-CN" altLang="en-US" sz="2800"/>
              <a:t>增加了虚成员函数</a:t>
            </a:r>
            <a:r>
              <a:rPr lang="en-US" altLang="zh-CN" sz="2800"/>
              <a:t>output</a:t>
            </a:r>
          </a:p>
          <a:p>
            <a:pPr algn="just">
              <a:buFont typeface="Monotype Sorts" pitchFamily="2" charset="2"/>
              <a:buNone/>
            </a:pPr>
            <a:endParaRPr lang="en-US" altLang="zh-CN" sz="2800"/>
          </a:p>
          <a:p>
            <a:endParaRPr lang="en-US" altLang="zh-CN" sz="2800"/>
          </a:p>
        </p:txBody>
      </p:sp>
      <p:sp>
        <p:nvSpPr>
          <p:cNvPr id="157700" name="Rectangle 4"/>
          <p:cNvSpPr>
            <a:spLocks noChangeArrowheads="1"/>
          </p:cNvSpPr>
          <p:nvPr/>
        </p:nvSpPr>
        <p:spPr bwMode="auto">
          <a:xfrm>
            <a:off x="0" y="188913"/>
            <a:ext cx="77724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zh-CN" altLang="en-US" sz="4000">
                <a:solidFill>
                  <a:schemeClr val="tx2"/>
                </a:solidFill>
              </a:rPr>
              <a:t>对</a:t>
            </a:r>
            <a:r>
              <a:rPr lang="en-US" altLang="zh-CN" sz="4400" b="1">
                <a:solidFill>
                  <a:schemeClr val="tx2"/>
                </a:solidFill>
              </a:rPr>
              <a:t>ForeignFilm</a:t>
            </a:r>
            <a:r>
              <a:rPr lang="zh-CN" altLang="en-US" sz="4000">
                <a:solidFill>
                  <a:schemeClr val="tx2"/>
                </a:solidFill>
              </a:rPr>
              <a:t>的改进</a:t>
            </a:r>
          </a:p>
        </p:txBody>
      </p:sp>
      <p:pic>
        <p:nvPicPr>
          <p:cNvPr id="157709" name="Picture 1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6013" y="3041650"/>
            <a:ext cx="7019925" cy="3816350"/>
          </a:xfr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3604269"/>
      </p:ext>
    </p:extLst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875FE-07A1-48F1-B330-C160F8EE400A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17101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17101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620713"/>
            <a:ext cx="7920038" cy="5232400"/>
          </a:xfr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7974272"/>
      </p:ext>
    </p:extLst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7AE1-C134-4014-BB8B-F599610C4C0D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16281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412875"/>
            <a:ext cx="7415212" cy="4114800"/>
          </a:xfrm>
        </p:spPr>
        <p:txBody>
          <a:bodyPr/>
          <a:lstStyle/>
          <a:p>
            <a:pPr algn="just"/>
            <a:r>
              <a:rPr lang="zh-CN" altLang="en-US" sz="2800"/>
              <a:t>功能：从输入文件中读入记录，记录按</a:t>
            </a:r>
            <a:r>
              <a:rPr lang="en-US" altLang="zh-CN" sz="2800" b="1"/>
              <a:t>Film</a:t>
            </a:r>
            <a:r>
              <a:rPr lang="zh-CN" altLang="en-US" sz="2800"/>
              <a:t>、</a:t>
            </a:r>
            <a:r>
              <a:rPr lang="en-US" altLang="zh-CN" sz="2800" b="1"/>
              <a:t>ForeignFilm</a:t>
            </a:r>
            <a:r>
              <a:rPr lang="zh-CN" altLang="en-US" sz="2800"/>
              <a:t>或</a:t>
            </a:r>
            <a:r>
              <a:rPr lang="en-US" altLang="zh-CN" sz="2800" b="1"/>
              <a:t>DirectorCut</a:t>
            </a:r>
            <a:r>
              <a:rPr lang="zh-CN" altLang="en-US" sz="2800"/>
              <a:t>来分类。读入像</a:t>
            </a:r>
            <a:r>
              <a:rPr lang="en-US" altLang="zh-CN" sz="2800" b="1"/>
              <a:t>Film</a:t>
            </a:r>
            <a:r>
              <a:rPr lang="zh-CN" altLang="en-US" sz="2800"/>
              <a:t>这样的记录组标志之后，动态创建相应的对象</a:t>
            </a:r>
            <a:r>
              <a:rPr lang="en-US" altLang="zh-CN" sz="2800"/>
              <a:t>,</a:t>
            </a:r>
            <a:r>
              <a:rPr lang="zh-CN" altLang="en-US" sz="2800"/>
              <a:t>并将指针储存在数组中，然后调用这个对象的</a:t>
            </a:r>
            <a:r>
              <a:rPr lang="en-US" altLang="zh-CN" sz="2800" b="1"/>
              <a:t>input</a:t>
            </a:r>
            <a:r>
              <a:rPr lang="zh-CN" altLang="en-US" sz="2800"/>
              <a:t>成员函数读入余下的记录，每个类的</a:t>
            </a:r>
            <a:r>
              <a:rPr lang="en-US" altLang="zh-CN" sz="2800" b="1"/>
              <a:t>input</a:t>
            </a:r>
            <a:r>
              <a:rPr lang="zh-CN" altLang="en-US" sz="2800"/>
              <a:t>成员函数设计为读入与这种类型相关的记录。</a:t>
            </a:r>
          </a:p>
          <a:p>
            <a:endParaRPr lang="zh-CN" altLang="en-US" sz="2800"/>
          </a:p>
          <a:p>
            <a:pPr algn="just"/>
            <a:endParaRPr lang="zh-CN" altLang="en-US" sz="2800"/>
          </a:p>
          <a:p>
            <a:pPr algn="just"/>
            <a:endParaRPr lang="zh-CN" altLang="en-US" sz="2800"/>
          </a:p>
          <a:p>
            <a:endParaRPr lang="en-US" altLang="zh-CN" sz="2800"/>
          </a:p>
        </p:txBody>
      </p:sp>
      <p:sp>
        <p:nvSpPr>
          <p:cNvPr id="162819" name="Rectangle 3"/>
          <p:cNvSpPr>
            <a:spLocks noChangeArrowheads="1"/>
          </p:cNvSpPr>
          <p:nvPr/>
        </p:nvSpPr>
        <p:spPr bwMode="auto">
          <a:xfrm>
            <a:off x="611188" y="404813"/>
            <a:ext cx="77724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endParaRPr lang="zh-CN" altLang="zh-CN" sz="4000">
              <a:solidFill>
                <a:schemeClr val="tx2"/>
              </a:solidFill>
            </a:endParaRPr>
          </a:p>
        </p:txBody>
      </p:sp>
      <p:sp>
        <p:nvSpPr>
          <p:cNvPr id="162820" name="Rectangle 4"/>
          <p:cNvSpPr>
            <a:spLocks noChangeArrowheads="1"/>
          </p:cNvSpPr>
          <p:nvPr/>
        </p:nvSpPr>
        <p:spPr bwMode="auto">
          <a:xfrm>
            <a:off x="179388" y="476250"/>
            <a:ext cx="77724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zh-CN" altLang="en-US" sz="3600">
                <a:solidFill>
                  <a:schemeClr val="tx2"/>
                </a:solidFill>
              </a:rPr>
              <a:t>基类中的静态成员函数</a:t>
            </a:r>
            <a:r>
              <a:rPr lang="en-US" altLang="zh-CN" sz="3600" b="1">
                <a:solidFill>
                  <a:schemeClr val="tx2"/>
                </a:solidFill>
              </a:rPr>
              <a:t>read-input</a:t>
            </a:r>
          </a:p>
        </p:txBody>
      </p:sp>
    </p:spTree>
    <p:extLst>
      <p:ext uri="{BB962C8B-B14F-4D97-AF65-F5344CB8AC3E}">
        <p14:creationId xmlns:p14="http://schemas.microsoft.com/office/powerpoint/2010/main" val="1200531346"/>
      </p:ext>
    </p:extLst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BCF0A-003D-4E18-81FA-1C8D0A592C96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177161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77154" name="Rectangle 2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just"/>
            <a:endParaRPr lang="en-US" altLang="zh-CN" sz="2800"/>
          </a:p>
          <a:p>
            <a:pPr algn="just"/>
            <a:endParaRPr lang="en-US" altLang="zh-CN" sz="2800"/>
          </a:p>
          <a:p>
            <a:endParaRPr lang="en-US" altLang="zh-CN" sz="2800"/>
          </a:p>
        </p:txBody>
      </p:sp>
      <p:sp>
        <p:nvSpPr>
          <p:cNvPr id="177155" name="Rectangle 3"/>
          <p:cNvSpPr>
            <a:spLocks noChangeArrowheads="1"/>
          </p:cNvSpPr>
          <p:nvPr/>
        </p:nvSpPr>
        <p:spPr bwMode="auto">
          <a:xfrm>
            <a:off x="611188" y="404813"/>
            <a:ext cx="77724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endParaRPr lang="zh-CN" altLang="zh-CN" sz="4000">
              <a:solidFill>
                <a:schemeClr val="tx2"/>
              </a:solidFill>
            </a:endParaRPr>
          </a:p>
        </p:txBody>
      </p:sp>
      <p:sp>
        <p:nvSpPr>
          <p:cNvPr id="177156" name="Rectangle 4"/>
          <p:cNvSpPr>
            <a:spLocks noChangeArrowheads="1"/>
          </p:cNvSpPr>
          <p:nvPr/>
        </p:nvSpPr>
        <p:spPr bwMode="auto">
          <a:xfrm>
            <a:off x="179388" y="188913"/>
            <a:ext cx="77724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zh-CN" altLang="en-US" sz="3600">
                <a:solidFill>
                  <a:schemeClr val="tx2"/>
                </a:solidFill>
              </a:rPr>
              <a:t>基类中的静态成员函数</a:t>
            </a:r>
            <a:r>
              <a:rPr lang="en-US" altLang="zh-CN" sz="3600" b="1">
                <a:solidFill>
                  <a:schemeClr val="tx2"/>
                </a:solidFill>
              </a:rPr>
              <a:t>read-input</a:t>
            </a:r>
          </a:p>
        </p:txBody>
      </p:sp>
      <p:grpSp>
        <p:nvGrpSpPr>
          <p:cNvPr id="177167" name="Group 15"/>
          <p:cNvGrpSpPr>
            <a:grpSpLocks/>
          </p:cNvGrpSpPr>
          <p:nvPr/>
        </p:nvGrpSpPr>
        <p:grpSpPr bwMode="auto">
          <a:xfrm>
            <a:off x="611188" y="908050"/>
            <a:ext cx="7705725" cy="5616575"/>
            <a:chOff x="612" y="1531"/>
            <a:chExt cx="4092" cy="3012"/>
          </a:xfrm>
        </p:grpSpPr>
        <p:pic>
          <p:nvPicPr>
            <p:cNvPr id="177157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" y="1531"/>
              <a:ext cx="4082" cy="5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7163" name="Picture 1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" y="2251"/>
              <a:ext cx="4092" cy="2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7165" name="Picture 1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" y="2089"/>
              <a:ext cx="408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77168" name="Line 16"/>
          <p:cNvSpPr>
            <a:spLocks noChangeShapeType="1"/>
          </p:cNvSpPr>
          <p:nvPr/>
        </p:nvSpPr>
        <p:spPr bwMode="auto">
          <a:xfrm>
            <a:off x="1403350" y="5373688"/>
            <a:ext cx="43211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164406"/>
      </p:ext>
    </p:extLst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EDD0-D200-4043-8DD5-94B0069A109A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r>
              <a:rPr lang="zh-CN" altLang="en-US"/>
              <a:t>输入文件的格式如下</a:t>
            </a:r>
            <a:r>
              <a:rPr lang="en-US" altLang="zh-CN">
                <a:sym typeface="Wingdings" pitchFamily="2" charset="2"/>
              </a:rPr>
              <a:t>(</a:t>
            </a:r>
            <a:r>
              <a:rPr lang="zh-CN" altLang="en-US"/>
              <a:t>回顾</a:t>
            </a:r>
            <a:r>
              <a:rPr lang="en-US" altLang="zh-CN">
                <a:sym typeface="Wingdings" pitchFamily="2" charset="2"/>
              </a:rPr>
              <a:t>)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415213" cy="4114800"/>
          </a:xfrm>
        </p:spPr>
        <p:txBody>
          <a:bodyPr/>
          <a:lstStyle/>
          <a:p>
            <a:pPr algn="just"/>
            <a:endParaRPr lang="en-US" altLang="zh-CN" sz="2800"/>
          </a:p>
          <a:p>
            <a:pPr algn="just"/>
            <a:endParaRPr lang="en-US" altLang="zh-CN" sz="2800"/>
          </a:p>
          <a:p>
            <a:pPr algn="just"/>
            <a:endParaRPr lang="en-US" altLang="zh-CN" sz="2800"/>
          </a:p>
          <a:p>
            <a:endParaRPr lang="en-US" altLang="zh-CN" sz="2800"/>
          </a:p>
        </p:txBody>
      </p:sp>
      <p:sp>
        <p:nvSpPr>
          <p:cNvPr id="202756" name="Rectangle 4"/>
          <p:cNvSpPr>
            <a:spLocks noChangeArrowheads="1"/>
          </p:cNvSpPr>
          <p:nvPr/>
        </p:nvSpPr>
        <p:spPr bwMode="auto">
          <a:xfrm>
            <a:off x="901700" y="2197100"/>
            <a:ext cx="7415213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</p:txBody>
      </p:sp>
      <p:pic>
        <p:nvPicPr>
          <p:cNvPr id="202757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00338" y="1628775"/>
            <a:ext cx="4313237" cy="5084763"/>
          </a:xfr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8955253"/>
      </p:ext>
    </p:extLst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A033-973E-4D09-A2D9-7131C769621D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测试程序</a:t>
            </a:r>
            <a:r>
              <a:rPr lang="en-US" altLang="zh-CN"/>
              <a:t>(</a:t>
            </a:r>
            <a:r>
              <a:rPr lang="zh-CN" altLang="en-US"/>
              <a:t>回顾</a:t>
            </a:r>
            <a:r>
              <a:rPr lang="en-US" altLang="zh-CN"/>
              <a:t>)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415213" cy="4114800"/>
          </a:xfrm>
        </p:spPr>
        <p:txBody>
          <a:bodyPr/>
          <a:lstStyle/>
          <a:p>
            <a:pPr algn="just"/>
            <a:endParaRPr lang="en-US" altLang="zh-CN" sz="2800"/>
          </a:p>
          <a:p>
            <a:pPr algn="just"/>
            <a:endParaRPr lang="en-US" altLang="zh-CN" sz="2800"/>
          </a:p>
          <a:p>
            <a:pPr algn="just"/>
            <a:endParaRPr lang="en-US" altLang="zh-CN" sz="2800"/>
          </a:p>
          <a:p>
            <a:endParaRPr lang="en-US" altLang="zh-CN" sz="2800"/>
          </a:p>
        </p:txBody>
      </p:sp>
      <p:pic>
        <p:nvPicPr>
          <p:cNvPr id="203780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628775"/>
            <a:ext cx="9144000" cy="4751388"/>
          </a:xfr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3781" name="Line 5"/>
          <p:cNvSpPr>
            <a:spLocks noChangeShapeType="1"/>
          </p:cNvSpPr>
          <p:nvPr/>
        </p:nvSpPr>
        <p:spPr bwMode="auto">
          <a:xfrm>
            <a:off x="684213" y="5589588"/>
            <a:ext cx="6335712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911931"/>
      </p:ext>
    </p:extLst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7576-7B17-46EF-BA82-35EBA16C5892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r>
              <a:rPr lang="zh-CN" altLang="en-US"/>
              <a:t>测试程序输出</a:t>
            </a:r>
            <a:r>
              <a:rPr lang="en-US" altLang="zh-CN"/>
              <a:t>(</a:t>
            </a:r>
            <a:r>
              <a:rPr lang="zh-CN" altLang="en-US"/>
              <a:t>回顾</a:t>
            </a:r>
            <a:r>
              <a:rPr lang="en-US" altLang="zh-CN"/>
              <a:t>)</a:t>
            </a:r>
          </a:p>
        </p:txBody>
      </p:sp>
      <p:pic>
        <p:nvPicPr>
          <p:cNvPr id="204803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76375" y="1454150"/>
            <a:ext cx="6191250" cy="4992688"/>
          </a:xfr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8475265"/>
      </p:ext>
    </p:extLst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D129-B443-4C1C-9BB5-E73CF690CDCF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17613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412875"/>
            <a:ext cx="7415212" cy="4114800"/>
          </a:xfrm>
        </p:spPr>
        <p:txBody>
          <a:bodyPr/>
          <a:lstStyle/>
          <a:p>
            <a:endParaRPr lang="en-US" altLang="zh-CN" sz="2400"/>
          </a:p>
          <a:p>
            <a:r>
              <a:rPr lang="zh-CN" altLang="en-US" sz="2800">
                <a:latin typeface="宋体" charset="-122"/>
              </a:rPr>
              <a:t>存在一个继承体系结构：</a:t>
            </a:r>
            <a:r>
              <a:rPr lang="en-US" altLang="zh-CN" sz="2400" b="1"/>
              <a:t>Film</a:t>
            </a:r>
            <a:r>
              <a:rPr lang="zh-CN" altLang="en-US" sz="2400"/>
              <a:t>，</a:t>
            </a:r>
            <a:r>
              <a:rPr lang="en-US" altLang="zh-CN" sz="2400" b="1"/>
              <a:t>ForeignFilm</a:t>
            </a:r>
            <a:r>
              <a:rPr lang="zh-CN" altLang="en-US" sz="2400"/>
              <a:t>和</a:t>
            </a:r>
            <a:r>
              <a:rPr lang="en-US" altLang="zh-CN" sz="2400" b="1"/>
              <a:t>DirectorCut</a:t>
            </a:r>
            <a:endParaRPr lang="en-US" altLang="zh-CN" sz="2800">
              <a:latin typeface="宋体" charset="-122"/>
            </a:endParaRPr>
          </a:p>
          <a:p>
            <a:r>
              <a:rPr lang="zh-CN" altLang="en-US" sz="2800">
                <a:latin typeface="宋体" charset="-122"/>
              </a:rPr>
              <a:t>继承体系结构中的一些类必须具有同名的</a:t>
            </a:r>
            <a:r>
              <a:rPr lang="en-US" altLang="zh-CN" sz="2800" b="1">
                <a:latin typeface="宋体" charset="-122"/>
              </a:rPr>
              <a:t>virtual</a:t>
            </a:r>
            <a:r>
              <a:rPr lang="zh-CN" altLang="en-US" sz="2800">
                <a:latin typeface="宋体" charset="-122"/>
              </a:rPr>
              <a:t>成员函数：</a:t>
            </a:r>
            <a:r>
              <a:rPr lang="en-US" altLang="zh-CN" sz="2800" b="1">
                <a:latin typeface="宋体" charset="-122"/>
              </a:rPr>
              <a:t>input </a:t>
            </a:r>
            <a:r>
              <a:rPr lang="zh-CN" altLang="en-US" sz="2800">
                <a:latin typeface="宋体" charset="-122"/>
              </a:rPr>
              <a:t>和</a:t>
            </a:r>
            <a:r>
              <a:rPr lang="zh-CN" altLang="en-US" sz="2800" b="1">
                <a:latin typeface="宋体" charset="-122"/>
              </a:rPr>
              <a:t> </a:t>
            </a:r>
            <a:r>
              <a:rPr lang="en-US" altLang="zh-CN" sz="2800" b="1">
                <a:latin typeface="宋体" charset="-122"/>
              </a:rPr>
              <a:t>output</a:t>
            </a:r>
          </a:p>
          <a:p>
            <a:r>
              <a:rPr lang="zh-CN" altLang="en-US" sz="2800">
                <a:latin typeface="宋体" charset="-122"/>
              </a:rPr>
              <a:t>至少有一个基类类型的指针或基类类型的引用</a:t>
            </a:r>
            <a:r>
              <a:rPr lang="en-US" altLang="zh-CN" sz="2800">
                <a:latin typeface="宋体" charset="-122"/>
              </a:rPr>
              <a:t>: </a:t>
            </a:r>
            <a:r>
              <a:rPr lang="zh-CN" altLang="en-US" sz="2400"/>
              <a:t>变量</a:t>
            </a:r>
            <a:r>
              <a:rPr lang="en-US" altLang="zh-CN" sz="2400" b="1"/>
              <a:t>film</a:t>
            </a:r>
            <a:r>
              <a:rPr lang="zh-CN" altLang="en-US" sz="2400"/>
              <a:t>是基类</a:t>
            </a:r>
            <a:r>
              <a:rPr lang="en-US" altLang="zh-CN" sz="2400" b="1"/>
              <a:t>Film</a:t>
            </a:r>
            <a:r>
              <a:rPr lang="zh-CN" altLang="en-US" sz="2400"/>
              <a:t>的指针数组</a:t>
            </a:r>
          </a:p>
        </p:txBody>
      </p:sp>
      <p:sp>
        <p:nvSpPr>
          <p:cNvPr id="176131" name="Rectangle 3"/>
          <p:cNvSpPr>
            <a:spLocks noChangeArrowheads="1"/>
          </p:cNvSpPr>
          <p:nvPr/>
        </p:nvSpPr>
        <p:spPr bwMode="auto">
          <a:xfrm>
            <a:off x="611188" y="404813"/>
            <a:ext cx="77724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endParaRPr lang="zh-CN" altLang="zh-CN" sz="4000">
              <a:solidFill>
                <a:schemeClr val="tx2"/>
              </a:solidFill>
            </a:endParaRPr>
          </a:p>
        </p:txBody>
      </p:sp>
      <p:sp>
        <p:nvSpPr>
          <p:cNvPr id="176132" name="Rectangle 4"/>
          <p:cNvSpPr>
            <a:spLocks noChangeArrowheads="1"/>
          </p:cNvSpPr>
          <p:nvPr/>
        </p:nvSpPr>
        <p:spPr bwMode="auto">
          <a:xfrm>
            <a:off x="395288" y="620713"/>
            <a:ext cx="77724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zh-CN" altLang="en-US" sz="3600">
                <a:solidFill>
                  <a:schemeClr val="tx2"/>
                </a:solidFill>
              </a:rPr>
              <a:t>本例中实现多态的三个条件</a:t>
            </a:r>
            <a:endParaRPr lang="zh-CN" altLang="en-US" sz="3600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044969"/>
      </p:ext>
    </p:extLst>
  </p:cSld>
  <p:clrMapOvr>
    <a:masterClrMapping/>
  </p:clrMapOvr>
  <p:transition>
    <p:random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7070</TotalTime>
  <Words>497</Words>
  <Application>Microsoft Macintosh PowerPoint</Application>
  <PresentationFormat>全屏显示(4:3)</PresentationFormat>
  <Paragraphs>81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宋体</vt:lpstr>
      <vt:lpstr>Franklin Gothic Book</vt:lpstr>
      <vt:lpstr>Monotype Sorts</vt:lpstr>
      <vt:lpstr>Perpetua</vt:lpstr>
      <vt:lpstr>Times New Roman</vt:lpstr>
      <vt:lpstr>Wingdings 2</vt:lpstr>
      <vt:lpstr>平衡</vt:lpstr>
      <vt:lpstr>示例程序：改进的影片跟踪管理</vt:lpstr>
      <vt:lpstr>输入文件的格式如下：</vt:lpstr>
      <vt:lpstr>测试程序</vt:lpstr>
      <vt:lpstr>测试程序输出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输入文件的格式如下(回顾)</vt:lpstr>
      <vt:lpstr>测试程序(回顾)</vt:lpstr>
      <vt:lpstr>测试程序输出(回顾)</vt:lpstr>
      <vt:lpstr>PowerPoint 演示文稿</vt:lpstr>
    </vt:vector>
  </TitlesOfParts>
  <Company>中国人民大学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面向对象的程序设计及C++</dc:title>
  <dc:subject>第一章  概述</dc:subject>
  <dc:creator>Wang Liang</dc:creator>
  <cp:lastModifiedBy>zhangyc@swc.neu.edu.cn</cp:lastModifiedBy>
  <cp:revision>342</cp:revision>
  <dcterms:created xsi:type="dcterms:W3CDTF">2001-02-06T01:47:22Z</dcterms:created>
  <dcterms:modified xsi:type="dcterms:W3CDTF">2025-10-23T11:05:09Z</dcterms:modified>
</cp:coreProperties>
</file>